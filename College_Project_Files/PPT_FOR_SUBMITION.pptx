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163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2</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3</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4</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5</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6</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7</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8</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9</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10</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11</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12</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13</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14</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15</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16</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17</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18</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Times New Roman" panose="02020603050405020304" pitchFamily="18" charset="0"/>
              </a:rPr>
              <a:t>19</a:t>
            </a:fld>
            <a:endParaRPr lang="en-US">
              <a:latin typeface="Times New Roman" panose="02020603050405020304" pitchFamily="18" charset="0"/>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pic>
        <p:nvPicPr>
          <p:cNvPr id="6" name="Image 0" descr="preencoded.png"/>
          <p:cNvPicPr>
            <a:picLocks noChangeAspect="1"/>
          </p:cNvPicPr>
          <p:nvPr/>
        </p:nvPicPr>
        <p:blipFill>
          <a:blip r:embed="rId3"/>
          <a:stretch>
            <a:fillRect/>
          </a:stretch>
        </p:blipFill>
        <p:spPr>
          <a:xfrm>
            <a:off x="1554480" y="164592"/>
            <a:ext cx="7315200" cy="914400"/>
          </a:xfrm>
          <a:prstGeom prst="rect">
            <a:avLst/>
          </a:prstGeom>
        </p:spPr>
      </p:pic>
      <p:sp>
        <p:nvSpPr>
          <p:cNvPr id="7" name="Text 4"/>
          <p:cNvSpPr/>
          <p:nvPr/>
        </p:nvSpPr>
        <p:spPr>
          <a:xfrm>
            <a:off x="1508760" y="1261872"/>
            <a:ext cx="7498080" cy="685800"/>
          </a:xfrm>
          <a:prstGeom prst="rect">
            <a:avLst/>
          </a:prstGeom>
          <a:noFill/>
          <a:ln/>
        </p:spPr>
        <p:txBody>
          <a:bodyPr wrap="square" rtlCol="0" anchor="ctr"/>
          <a:lstStyle/>
          <a:p>
            <a:pPr marL="0" indent="0" algn="ctr">
              <a:buNone/>
            </a:pPr>
            <a:r>
              <a:rPr lang="en-US" sz="2200" b="1" dirty="0">
                <a:solidFill>
                  <a:srgbClr val="7B2C2C"/>
                </a:solidFill>
                <a:latin typeface="Times New Roman" panose="02020603050405020304" pitchFamily="18" charset="0"/>
                <a:ea typeface="Calibri" pitchFamily="34" charset="-122"/>
                <a:cs typeface="Times New Roman" panose="02020603050405020304" pitchFamily="18" charset="0"/>
              </a:rPr>
              <a:t>Project Title: Plant Disease Detection System Using AI/ML</a:t>
            </a:r>
            <a:endParaRPr lang="en-US" sz="2200" dirty="0">
              <a:latin typeface="Times New Roman" panose="02020603050405020304" pitchFamily="18" charset="0"/>
            </a:endParaRPr>
          </a:p>
        </p:txBody>
      </p:sp>
      <p:sp>
        <p:nvSpPr>
          <p:cNvPr id="8" name="Text 5"/>
          <p:cNvSpPr/>
          <p:nvPr/>
        </p:nvSpPr>
        <p:spPr>
          <a:xfrm>
            <a:off x="1600200" y="2057400"/>
            <a:ext cx="4572000" cy="274320"/>
          </a:xfrm>
          <a:prstGeom prst="rect">
            <a:avLst/>
          </a:prstGeom>
          <a:noFill/>
          <a:ln/>
        </p:spPr>
        <p:txBody>
          <a:bodyPr wrap="square" rtlCol="0" anchor="ctr"/>
          <a:lstStyle/>
          <a:p>
            <a:pPr marL="0" indent="0" algn="l">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Submitted By:</a:t>
            </a:r>
            <a:endParaRPr lang="en-US" sz="1400" dirty="0">
              <a:latin typeface="Times New Roman" panose="02020603050405020304" pitchFamily="18" charset="0"/>
            </a:endParaRPr>
          </a:p>
        </p:txBody>
      </p:sp>
      <p:sp>
        <p:nvSpPr>
          <p:cNvPr id="9" name="Text 6"/>
          <p:cNvSpPr/>
          <p:nvPr/>
        </p:nvSpPr>
        <p:spPr>
          <a:xfrm>
            <a:off x="1600200" y="2350008"/>
            <a:ext cx="5943600" cy="594360"/>
          </a:xfrm>
          <a:prstGeom prst="rect">
            <a:avLst/>
          </a:prstGeom>
          <a:noFill/>
          <a:ln/>
        </p:spPr>
        <p:txBody>
          <a:bodyPr wrap="square" rtlCol="0" anchor="ctr"/>
          <a:lstStyle/>
          <a:p>
            <a:pPr marL="0" indent="0" algn="l">
              <a:buNone/>
            </a:pPr>
            <a:r>
              <a:rPr lang="en-US" sz="1400" dirty="0" err="1">
                <a:solidFill>
                  <a:srgbClr val="C0392B"/>
                </a:solidFill>
                <a:latin typeface="Times New Roman" panose="02020603050405020304" pitchFamily="18" charset="0"/>
                <a:ea typeface="Calibri" pitchFamily="34" charset="-122"/>
                <a:cs typeface="Times New Roman" panose="02020603050405020304" pitchFamily="18" charset="0"/>
              </a:rPr>
              <a:t>Aprur</a:t>
            </a:r>
            <a:r>
              <a:rPr lang="en-US" sz="1400" dirty="0">
                <a:solidFill>
                  <a:srgbClr val="C0392B"/>
                </a:solidFill>
                <a:latin typeface="Times New Roman" panose="02020603050405020304" pitchFamily="18" charset="0"/>
                <a:ea typeface="Calibri" pitchFamily="34" charset="-122"/>
                <a:cs typeface="Times New Roman" panose="02020603050405020304" pitchFamily="18" charset="0"/>
              </a:rPr>
              <a:t> Soni, PCE22CS087</a:t>
            </a:r>
            <a:endParaRPr lang="en-US" sz="1400" dirty="0">
              <a:latin typeface="Times New Roman" panose="02020603050405020304" pitchFamily="18" charset="0"/>
            </a:endParaRPr>
          </a:p>
          <a:p>
            <a:pPr marL="0" indent="0" algn="l">
              <a:buNone/>
            </a:pPr>
            <a:r>
              <a:rPr lang="en-US" sz="1400" dirty="0">
                <a:solidFill>
                  <a:srgbClr val="C0392B"/>
                </a:solidFill>
                <a:latin typeface="Times New Roman" panose="02020603050405020304" pitchFamily="18" charset="0"/>
                <a:ea typeface="Calibri" pitchFamily="34" charset="-122"/>
                <a:cs typeface="Times New Roman" panose="02020603050405020304" pitchFamily="18" charset="0"/>
              </a:rPr>
              <a:t>Yuvraj Dev, PCE22CS188</a:t>
            </a:r>
            <a:endParaRPr lang="en-US" sz="1400" dirty="0">
              <a:latin typeface="Times New Roman" panose="02020603050405020304" pitchFamily="18" charset="0"/>
            </a:endParaRPr>
          </a:p>
        </p:txBody>
      </p:sp>
      <p:sp>
        <p:nvSpPr>
          <p:cNvPr id="10" name="Text 7"/>
          <p:cNvSpPr/>
          <p:nvPr/>
        </p:nvSpPr>
        <p:spPr>
          <a:xfrm>
            <a:off x="1600200" y="3017520"/>
            <a:ext cx="5943600" cy="1005840"/>
          </a:xfrm>
          <a:prstGeom prst="rect">
            <a:avLst/>
          </a:prstGeom>
          <a:noFill/>
          <a:ln/>
        </p:spPr>
        <p:txBody>
          <a:bodyPr wrap="square" rtlCol="0" anchor="ctr"/>
          <a:lstStyle/>
          <a:p>
            <a:pPr marL="0" indent="0" algn="l">
              <a:buNone/>
            </a:pPr>
            <a:r>
              <a:rPr lang="en-US" sz="1400" dirty="0">
                <a:solidFill>
                  <a:srgbClr val="C0392B"/>
                </a:solidFill>
                <a:latin typeface="Times New Roman" panose="02020603050405020304" pitchFamily="18" charset="0"/>
                <a:ea typeface="Calibri" pitchFamily="34" charset="-122"/>
                <a:cs typeface="Times New Roman" panose="02020603050405020304" pitchFamily="18" charset="0"/>
              </a:rPr>
              <a:t>Project Supervisor:</a:t>
            </a:r>
            <a:endParaRPr lang="en-US" sz="1400" dirty="0">
              <a:latin typeface="Times New Roman" panose="02020603050405020304" pitchFamily="18" charset="0"/>
            </a:endParaRPr>
          </a:p>
          <a:p>
            <a:pPr marL="0" indent="0" algn="l">
              <a:buNone/>
            </a:pPr>
            <a:r>
              <a:rPr lang="en-US" sz="1400" dirty="0">
                <a:solidFill>
                  <a:srgbClr val="C0392B"/>
                </a:solidFill>
                <a:latin typeface="Times New Roman" panose="02020603050405020304" pitchFamily="18" charset="0"/>
                <a:ea typeface="Calibri" pitchFamily="34" charset="-122"/>
                <a:cs typeface="Times New Roman" panose="02020603050405020304" pitchFamily="18" charset="0"/>
              </a:rPr>
              <a:t>Dr. Sonam Gour,</a:t>
            </a:r>
            <a:endParaRPr lang="en-US" sz="1400" dirty="0">
              <a:latin typeface="Times New Roman" panose="02020603050405020304" pitchFamily="18" charset="0"/>
            </a:endParaRPr>
          </a:p>
          <a:p>
            <a:pPr marL="0" indent="0" algn="l">
              <a:buNone/>
            </a:pPr>
            <a:r>
              <a:rPr lang="en-US" sz="1400" dirty="0">
                <a:solidFill>
                  <a:srgbClr val="C0392B"/>
                </a:solidFill>
                <a:latin typeface="Times New Roman" panose="02020603050405020304" pitchFamily="18" charset="0"/>
                <a:ea typeface="Calibri" pitchFamily="34" charset="-122"/>
                <a:cs typeface="Times New Roman" panose="02020603050405020304" pitchFamily="18" charset="0"/>
              </a:rPr>
              <a:t>Assistant Professor,</a:t>
            </a:r>
            <a:endParaRPr lang="en-US" sz="1400" dirty="0">
              <a:latin typeface="Times New Roman" panose="02020603050405020304" pitchFamily="18" charset="0"/>
            </a:endParaRPr>
          </a:p>
          <a:p>
            <a:pPr marL="0" indent="0" algn="l">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Department of Computer Engineering</a:t>
            </a:r>
            <a:endParaRPr lang="en-US" sz="1400" dirty="0">
              <a:latin typeface="Times New Roman" panose="02020603050405020304" pitchFamily="18" charset="0"/>
            </a:endParaRPr>
          </a:p>
        </p:txBody>
      </p:sp>
      <p:sp>
        <p:nvSpPr>
          <p:cNvPr id="11" name="Shape 8"/>
          <p:cNvSpPr/>
          <p:nvPr/>
        </p:nvSpPr>
        <p:spPr>
          <a:xfrm>
            <a:off x="0" y="4818888"/>
            <a:ext cx="9144000" cy="324612"/>
          </a:xfrm>
          <a:prstGeom prst="rect">
            <a:avLst/>
          </a:prstGeom>
          <a:solidFill>
            <a:srgbClr val="EEEEEE"/>
          </a:solidFill>
          <a:ln w="6350">
            <a:solidFill>
              <a:srgbClr val="CCCCCC"/>
            </a:solidFill>
            <a:prstDash val="solid"/>
          </a:ln>
        </p:spPr>
      </p:sp>
      <p:sp>
        <p:nvSpPr>
          <p:cNvPr id="12" name="Text 9"/>
          <p:cNvSpPr/>
          <p:nvPr/>
        </p:nvSpPr>
        <p:spPr>
          <a:xfrm>
            <a:off x="1508760" y="4828032"/>
            <a:ext cx="3200400" cy="292608"/>
          </a:xfrm>
          <a:prstGeom prst="rect">
            <a:avLst/>
          </a:prstGeom>
          <a:noFill/>
          <a:ln/>
        </p:spPr>
        <p:txBody>
          <a:bodyPr wrap="square" rtlCol="0" anchor="ctr"/>
          <a:lstStyle/>
          <a:p>
            <a:pPr marL="0" indent="0" algn="l">
              <a:buNone/>
            </a:pPr>
            <a:r>
              <a:rPr lang="en-US" sz="1000" dirty="0">
                <a:solidFill>
                  <a:srgbClr val="595959"/>
                </a:solidFill>
                <a:latin typeface="Times New Roman" panose="02020603050405020304" pitchFamily="18" charset="0"/>
                <a:ea typeface="Calibri" pitchFamily="34" charset="-122"/>
                <a:cs typeface="Times New Roman" panose="02020603050405020304" pitchFamily="18" charset="0"/>
              </a:rPr>
              <a:t>Academic Year: 25-26</a:t>
            </a:r>
            <a:endParaRPr lang="en-US" sz="1000" dirty="0">
              <a:latin typeface="Times New Roman" panose="02020603050405020304" pitchFamily="18" charset="0"/>
            </a:endParaRPr>
          </a:p>
        </p:txBody>
      </p:sp>
      <p:sp>
        <p:nvSpPr>
          <p:cNvPr id="13" name="Text 10"/>
          <p:cNvSpPr/>
          <p:nvPr/>
        </p:nvSpPr>
        <p:spPr>
          <a:xfrm>
            <a:off x="5852160" y="4828032"/>
            <a:ext cx="3200400" cy="292608"/>
          </a:xfrm>
          <a:prstGeom prst="rect">
            <a:avLst/>
          </a:prstGeom>
          <a:noFill/>
          <a:ln/>
        </p:spPr>
        <p:txBody>
          <a:bodyPr wrap="square" rtlCol="0" anchor="ctr"/>
          <a:lstStyle/>
          <a:p>
            <a:pPr marL="0" indent="0" algn="r">
              <a:buNone/>
            </a:pPr>
            <a:r>
              <a:rPr lang="en-US" sz="1000" dirty="0">
                <a:solidFill>
                  <a:srgbClr val="595959"/>
                </a:solidFill>
                <a:latin typeface="Times New Roman" panose="02020603050405020304" pitchFamily="18" charset="0"/>
                <a:ea typeface="Calibri" pitchFamily="34" charset="-122"/>
                <a:cs typeface="Times New Roman" panose="02020603050405020304" pitchFamily="18" charset="0"/>
              </a:rPr>
              <a:t>Subject: 8CS7-50 Project</a:t>
            </a:r>
            <a:endParaRPr lang="en-US" sz="1000" dirty="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pic>
        <p:nvPicPr>
          <p:cNvPr id="6" name="Image 0" descr="preencoded.png"/>
          <p:cNvPicPr>
            <a:picLocks noChangeAspect="1"/>
          </p:cNvPicPr>
          <p:nvPr/>
        </p:nvPicPr>
        <p:blipFill>
          <a:blip r:embed="rId3"/>
          <a:stretch>
            <a:fillRect/>
          </a:stretch>
        </p:blipFill>
        <p:spPr>
          <a:xfrm>
            <a:off x="5303520" y="457200"/>
            <a:ext cx="3657600" cy="4114800"/>
          </a:xfrm>
          <a:prstGeom prst="rect">
            <a:avLst/>
          </a:prstGeom>
        </p:spPr>
      </p:pic>
      <p:sp>
        <p:nvSpPr>
          <p:cNvPr id="7" name="Text 4"/>
          <p:cNvSpPr/>
          <p:nvPr/>
        </p:nvSpPr>
        <p:spPr>
          <a:xfrm>
            <a:off x="1508760" y="182880"/>
            <a:ext cx="3840480" cy="594360"/>
          </a:xfrm>
          <a:prstGeom prst="rect">
            <a:avLst/>
          </a:prstGeom>
          <a:noFill/>
          <a:ln/>
        </p:spPr>
        <p:txBody>
          <a:bodyPr wrap="square" rtlCol="0" anchor="ctr"/>
          <a:lstStyle/>
          <a:p>
            <a:pPr marL="0" indent="0" algn="l">
              <a:buNone/>
            </a:pPr>
            <a:r>
              <a:rPr lang="en-US" sz="3600" dirty="0">
                <a:solidFill>
                  <a:srgbClr val="000000"/>
                </a:solidFill>
                <a:latin typeface="Times New Roman" panose="02020603050405020304" pitchFamily="18" charset="0"/>
                <a:ea typeface="Calibri" pitchFamily="34" charset="-122"/>
                <a:cs typeface="Times New Roman" panose="02020603050405020304" pitchFamily="18" charset="0"/>
              </a:rPr>
              <a:t>CONTENTS</a:t>
            </a:r>
            <a:endParaRPr lang="en-US" sz="3600" dirty="0">
              <a:latin typeface="Times New Roman" panose="02020603050405020304" pitchFamily="18" charset="0"/>
            </a:endParaRPr>
          </a:p>
        </p:txBody>
      </p:sp>
      <p:sp>
        <p:nvSpPr>
          <p:cNvPr id="8" name="Text 5"/>
          <p:cNvSpPr/>
          <p:nvPr/>
        </p:nvSpPr>
        <p:spPr>
          <a:xfrm>
            <a:off x="1508760" y="777240"/>
            <a:ext cx="3749040" cy="2316804"/>
          </a:xfrm>
          <a:prstGeom prst="rect">
            <a:avLst/>
          </a:prstGeom>
          <a:noFill/>
          <a:ln/>
        </p:spPr>
        <p:txBody>
          <a:bodyPr wrap="square" rtlCol="0" anchor="ctr"/>
          <a:lstStyle/>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Abstract</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Literature Review</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Comparison Table</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Problem Statement and Objective</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Design of Solution</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Experimental Setup</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Variance</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Snapshots</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Result</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Conclusion &amp; Future Scope</a:t>
            </a:r>
            <a:endParaRPr lang="en-US" sz="1300" dirty="0">
              <a:latin typeface="Times New Roman" panose="02020603050405020304" pitchFamily="18" charset="0"/>
            </a:endParaRPr>
          </a:p>
          <a:p>
            <a:pPr marL="342900" indent="-342900">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References</a:t>
            </a:r>
            <a:endParaRPr lang="en-US" sz="1300" dirty="0">
              <a:latin typeface="Times New Roman" panose="02020603050405020304" pitchFamily="18" charset="0"/>
            </a:endParaRPr>
          </a:p>
        </p:txBody>
      </p:sp>
      <p:sp>
        <p:nvSpPr>
          <p:cNvPr id="9"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10"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1"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2</a:t>
            </a:r>
            <a:endParaRPr lang="en-US" sz="900" dirty="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Abstract</a:t>
            </a:r>
            <a:endParaRPr lang="en-US" sz="2800" dirty="0">
              <a:latin typeface="Times New Roman" panose="02020603050405020304" pitchFamily="18" charset="0"/>
            </a:endParaRPr>
          </a:p>
        </p:txBody>
      </p:sp>
      <p:sp>
        <p:nvSpPr>
          <p:cNvPr id="7" name="Text 5"/>
          <p:cNvSpPr/>
          <p:nvPr/>
        </p:nvSpPr>
        <p:spPr>
          <a:xfrm>
            <a:off x="1508760" y="667512"/>
            <a:ext cx="7498080" cy="2164858"/>
          </a:xfrm>
          <a:prstGeom prst="rect">
            <a:avLst/>
          </a:prstGeom>
          <a:noFill/>
          <a:ln/>
        </p:spPr>
        <p:txBody>
          <a:bodyPr wrap="square" rtlCol="0" anchor="ctr"/>
          <a:lstStyle/>
          <a:p>
            <a:pPr marL="342900" indent="-342900" algn="just">
              <a:spcAft>
                <a:spcPts val="8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Plant diseases cause significant agricultural losses globally. Early and accurate detection is critical for timely intervention and minimizing crop damage. Traditional manual inspection methods are time-consuming, expensive, and require expertise.</a:t>
            </a:r>
            <a:endParaRPr lang="en-US" sz="1400" dirty="0">
              <a:latin typeface="Times New Roman" panose="02020603050405020304" pitchFamily="18" charset="0"/>
            </a:endParaRPr>
          </a:p>
          <a:p>
            <a:pPr marL="342900" indent="-342900" algn="just">
              <a:spcAft>
                <a:spcPts val="8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This project presents an AI/ML-based Plant Disease Detection System that leverages deep learning (CNN) to automatically identify and classify plant diseases from leaf images with high accuracy.</a:t>
            </a:r>
            <a:endParaRPr lang="en-US" sz="1400" dirty="0">
              <a:latin typeface="Times New Roman" panose="02020603050405020304" pitchFamily="18" charset="0"/>
            </a:endParaRPr>
          </a:p>
          <a:p>
            <a:pPr marL="342900" indent="-342900" algn="just">
              <a:spcAft>
                <a:spcPts val="800"/>
              </a:spcAft>
              <a:buSzPct val="100000"/>
              <a:buChar char="•"/>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The system provides farmers and agronomists with a fast, reliable, and accessible tool for early disease detection, enabling prompt treatment and protecting crop yields.</a:t>
            </a:r>
            <a:endParaRPr lang="en-US" sz="140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Literature Review Paper 01</a:t>
            </a:r>
            <a:endParaRPr lang="en-US" sz="2800" dirty="0">
              <a:latin typeface="Times New Roman" panose="02020603050405020304" pitchFamily="18" charset="0"/>
            </a:endParaRPr>
          </a:p>
        </p:txBody>
      </p:sp>
      <p:sp>
        <p:nvSpPr>
          <p:cNvPr id="7" name="Text 5"/>
          <p:cNvSpPr/>
          <p:nvPr/>
        </p:nvSpPr>
        <p:spPr>
          <a:xfrm>
            <a:off x="1508760" y="777240"/>
            <a:ext cx="7498080" cy="3840480"/>
          </a:xfrm>
          <a:prstGeom prst="rect">
            <a:avLst/>
          </a:prstGeom>
          <a:noFill/>
          <a:ln/>
        </p:spPr>
        <p:txBody>
          <a:bodyPr wrap="square" rtlCol="0" anchor="ctr"/>
          <a:lstStyle/>
          <a:p>
            <a:pPr marL="0" indent="0" algn="just">
              <a:spcAft>
                <a:spcPts val="600"/>
              </a:spcAf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Mohanty et al. (2016) demonstrated the use of deep learning on the PlantVillage dataset, achieving over 99% accuracy in classifying 26 diseases across 14 crop species. The study used a CNN-based architecture (GoogLeNet and AlexNet) and highlighted the potential of large-scale image datasets for training plant disease classifiers. The model showed strong performance on controlled lab images but faced challenges with real-field conditions.</a:t>
            </a:r>
            <a:endParaRPr lang="en-US" sz="140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4</a:t>
            </a:r>
            <a:endParaRPr lang="en-US" sz="900"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Literature Review Paper 02</a:t>
            </a:r>
            <a:endParaRPr lang="en-US" sz="2800" dirty="0">
              <a:latin typeface="Times New Roman" panose="02020603050405020304" pitchFamily="18" charset="0"/>
              <a:cs typeface="Times New Roman" panose="02020603050405020304" pitchFamily="18" charset="0"/>
            </a:endParaRPr>
          </a:p>
        </p:txBody>
      </p:sp>
      <p:sp>
        <p:nvSpPr>
          <p:cNvPr id="7" name="Text 5"/>
          <p:cNvSpPr/>
          <p:nvPr/>
        </p:nvSpPr>
        <p:spPr>
          <a:xfrm>
            <a:off x="1508760" y="777240"/>
            <a:ext cx="7498080" cy="3840480"/>
          </a:xfrm>
          <a:prstGeom prst="rect">
            <a:avLst/>
          </a:prstGeom>
          <a:noFill/>
          <a:ln/>
        </p:spPr>
        <p:txBody>
          <a:bodyPr wrap="square" rtlCol="0" anchor="ctr"/>
          <a:lstStyle/>
          <a:p>
            <a:pPr marL="0" indent="0" algn="just">
              <a:spcAft>
                <a:spcPts val="600"/>
              </a:spcAf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Ferentinos (2018) proposed a deep learning model using CNN architectures for plant disease detection trained on 87,848 images covering 58 different classes. The study found that the VGG network variant achieved the highest accuracy of 99.53%. It identified overfitting as a major challenge and suggested data augmentation techniques such as flipping, rotation, and zooming to improve model generalizability.</a:t>
            </a:r>
            <a:endParaRPr lang="en-US" sz="140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5</a:t>
            </a:r>
            <a:endParaRPr lang="en-US" sz="900" dirty="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Literature Review Paper 03</a:t>
            </a:r>
            <a:endParaRPr lang="en-US" sz="2800" dirty="0">
              <a:latin typeface="Times New Roman" panose="02020603050405020304" pitchFamily="18" charset="0"/>
            </a:endParaRPr>
          </a:p>
        </p:txBody>
      </p:sp>
      <p:sp>
        <p:nvSpPr>
          <p:cNvPr id="7" name="Text 5"/>
          <p:cNvSpPr/>
          <p:nvPr/>
        </p:nvSpPr>
        <p:spPr>
          <a:xfrm>
            <a:off x="1508760" y="777240"/>
            <a:ext cx="7498080" cy="3840480"/>
          </a:xfrm>
          <a:prstGeom prst="rect">
            <a:avLst/>
          </a:prstGeom>
          <a:noFill/>
          <a:ln/>
        </p:spPr>
        <p:txBody>
          <a:bodyPr wrap="square" rtlCol="0" anchor="ctr"/>
          <a:lstStyle/>
          <a:p>
            <a:pPr marL="0" indent="0" algn="just">
              <a:spcAft>
                <a:spcPts val="600"/>
              </a:spcAf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Zhang et al. (2018) presented a mobile application integrating a CNN model for on-field plant disease detection. The research focused on practical deployment challenges including real-time processing constraints and varying lighting/background conditions. Transfer learning from pre-trained models (ResNet, InceptionV3) significantly reduced training time while maintaining high diagnostic accuracy.</a:t>
            </a:r>
            <a:endParaRPr lang="en-US" sz="140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6</a:t>
            </a:r>
            <a:endParaRPr lang="en-US" sz="900" dirty="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Literature Review Paper 04</a:t>
            </a:r>
            <a:endParaRPr lang="en-US" sz="2800" dirty="0">
              <a:latin typeface="Times New Roman" panose="02020603050405020304" pitchFamily="18" charset="0"/>
            </a:endParaRPr>
          </a:p>
        </p:txBody>
      </p:sp>
      <p:sp>
        <p:nvSpPr>
          <p:cNvPr id="7" name="Text 5"/>
          <p:cNvSpPr/>
          <p:nvPr/>
        </p:nvSpPr>
        <p:spPr>
          <a:xfrm>
            <a:off x="1508760" y="777240"/>
            <a:ext cx="7498080" cy="3840480"/>
          </a:xfrm>
          <a:prstGeom prst="rect">
            <a:avLst/>
          </a:prstGeom>
          <a:noFill/>
          <a:ln/>
        </p:spPr>
        <p:txBody>
          <a:bodyPr wrap="square" rtlCol="0" anchor="ctr"/>
          <a:lstStyle/>
          <a:p>
            <a:pPr marL="0" indent="0" algn="just">
              <a:spcAft>
                <a:spcPts val="600"/>
              </a:spcAf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Barbedo (2019) reviewed over 100 published studies on plant disease detection using image analysis and machine learning. The paper categorized approaches by image acquisition method (controlled vs. field), ML technique (SVM, Random Forest, CNN), and disease type. Key findings included that CNNs consistently outperform traditional ML methods, and that field-condition datasets remain scarce and are crucial for real-world deployment.</a:t>
            </a:r>
            <a:endParaRPr lang="en-US" sz="140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7</a:t>
            </a:r>
            <a:endParaRPr lang="en-US" sz="900" dirty="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Literature Review Paper 05</a:t>
            </a:r>
            <a:endParaRPr lang="en-US" sz="2800" dirty="0">
              <a:latin typeface="Times New Roman" panose="02020603050405020304" pitchFamily="18" charset="0"/>
            </a:endParaRPr>
          </a:p>
        </p:txBody>
      </p:sp>
      <p:sp>
        <p:nvSpPr>
          <p:cNvPr id="7" name="Text 5"/>
          <p:cNvSpPr/>
          <p:nvPr/>
        </p:nvSpPr>
        <p:spPr>
          <a:xfrm>
            <a:off x="1508760" y="777240"/>
            <a:ext cx="7498080" cy="3840480"/>
          </a:xfrm>
          <a:prstGeom prst="rect">
            <a:avLst/>
          </a:prstGeom>
          <a:noFill/>
          <a:ln/>
        </p:spPr>
        <p:txBody>
          <a:bodyPr wrap="square" rtlCol="0" anchor="ctr"/>
          <a:lstStyle/>
          <a:p>
            <a:pPr marL="0" indent="0" algn="just">
              <a:spcAft>
                <a:spcPts val="600"/>
              </a:spcAft>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Rangarajan et al. (2018) investigated tomato leaf disease detection using SVM and ANN classifiers. Features were extracted using color, texture, and shape descriptors. The SVM classifier achieved 94.08% accuracy. The study underscored the importance of preprocessing steps such as image segmentation and noise removal in improving detection accuracy, especially for early-stage disease identification.</a:t>
            </a:r>
            <a:endParaRPr lang="en-US" sz="140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a:t>
            </a:r>
            <a:endParaRPr lang="en-US" sz="900" dirty="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Comparisons Table</a:t>
            </a:r>
            <a:endParaRPr lang="en-US" sz="2800" dirty="0">
              <a:latin typeface="Times New Roman" panose="02020603050405020304" pitchFamily="18" charset="0"/>
            </a:endParaRPr>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463040" y="777240"/>
          <a:ext cx="7498080" cy="2743200"/>
        </p:xfrm>
        <a:graphic>
          <a:graphicData uri="http://schemas.openxmlformats.org/drawingml/2006/table">
            <a:tbl>
              <a:tblPr/>
              <a:tblGrid>
                <a:gridCol w="457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57200">
                <a:tc>
                  <a:txBody>
                    <a:bodyP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S.No</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2E4478"/>
                    </a:solidFill>
                  </a:tcPr>
                </a:tc>
                <a:tc>
                  <a:txBody>
                    <a:bodyP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Authors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2E4478"/>
                    </a:solidFill>
                  </a:tcPr>
                </a:tc>
                <a:tc>
                  <a:txBody>
                    <a:bodyP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Paper Title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2E4478"/>
                    </a:solidFill>
                  </a:tcPr>
                </a:tc>
                <a:tc>
                  <a:txBody>
                    <a:bodyP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Focus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2E4478"/>
                    </a:solidFill>
                  </a:tcPr>
                </a:tc>
                <a:tc>
                  <a:txBody>
                    <a:bodyP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Methodology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2E4478"/>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Mohanty et al.</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Deep Learning for Plant Disease Detection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CNN Classification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GoogLeNet, AlexNet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57200">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2</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Ferentinos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Deep Learning Models for Plant Disease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High Accuracy CNN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VGG Network</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57200">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Zhang et al.</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Mobile CNN for On-Field Detection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Real-time Deployment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ResNet, InceptionV3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57200">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4</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Barbedo</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Review of Image Analysis Methods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Survey &amp; Analysis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SVM, RF, CNN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57200">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Rangarajan et al.</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Tomato Leaf Disease Detection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Feature Extraction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tc>
                  <a:txBody>
                    <a:bodyPr/>
                    <a:lstStyle/>
                    <a:p>
                      <a:pPr marL="0" indent="0">
                        <a:buNone/>
                      </a:pPr>
                      <a:r>
                        <a:rPr lang="en-US" sz="1000" dirty="0">
                          <a:solidFill>
                            <a:srgbClr val="000000"/>
                          </a:solidFill>
                          <a:latin typeface="Times New Roman" panose="02020603050405020304" pitchFamily="18" charset="0"/>
                          <a:ea typeface="Calibri" pitchFamily="34" charset="-122"/>
                          <a:cs typeface="Times New Roman" panose="02020603050405020304" pitchFamily="18" charset="0"/>
                        </a:rPr>
                        <a:t>SVM, ANN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bl>
          </a:graphicData>
        </a:graphic>
      </p:graphicFrame>
      <p:sp>
        <p:nvSpPr>
          <p:cNvPr id="8" name="Shape 5"/>
          <p:cNvSpPr/>
          <p:nvPr/>
        </p:nvSpPr>
        <p:spPr>
          <a:xfrm>
            <a:off x="1417320" y="4800600"/>
            <a:ext cx="7726680" cy="342900"/>
          </a:xfrm>
          <a:prstGeom prst="rect">
            <a:avLst/>
          </a:prstGeom>
          <a:solidFill>
            <a:srgbClr val="2E4478"/>
          </a:solidFill>
          <a:ln w="12700">
            <a:solidFill>
              <a:srgbClr val="2E4478"/>
            </a:solidFill>
            <a:prstDash val="solid"/>
          </a:ln>
        </p:spPr>
      </p:sp>
      <p:sp>
        <p:nvSpPr>
          <p:cNvPr id="9" name="Text 6"/>
          <p:cNvSpPr/>
          <p:nvPr/>
        </p:nvSpPr>
        <p:spPr>
          <a:xfrm>
            <a:off x="1417320" y="4800600"/>
            <a:ext cx="772668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Department of Computer Engineering , PCE , Jaipur</a:t>
            </a:r>
            <a:endParaRPr lang="en-US" sz="1000"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Problem Statement and Objective</a:t>
            </a:r>
            <a:endParaRPr lang="en-US" sz="2800" dirty="0">
              <a:latin typeface="Times New Roman" panose="02020603050405020304" pitchFamily="18" charset="0"/>
            </a:endParaRPr>
          </a:p>
        </p:txBody>
      </p:sp>
      <p:sp>
        <p:nvSpPr>
          <p:cNvPr id="7" name="Text 5"/>
          <p:cNvSpPr/>
          <p:nvPr/>
        </p:nvSpPr>
        <p:spPr>
          <a:xfrm>
            <a:off x="1463040" y="661026"/>
            <a:ext cx="7434526" cy="2419593"/>
          </a:xfrm>
          <a:prstGeom prst="rect">
            <a:avLst/>
          </a:prstGeom>
          <a:noFill/>
          <a:ln/>
        </p:spPr>
        <p:txBody>
          <a:bodyPr wrap="square" rtlCol="0" anchor="ctr"/>
          <a:lstStyle/>
          <a:p>
            <a:pPr marL="342900" indent="-342900" algn="just">
              <a:spcAft>
                <a:spcPts val="8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Plant diseases are responsible for significant crop yield losses globally, affecting food security and farmers' livelihoods. Manual inspection of plants for disease identification is labor-intensive, slow, and often inaccurate due to dependence on human expertise.</a:t>
            </a:r>
            <a:endParaRPr lang="en-US" sz="1350" dirty="0">
              <a:latin typeface="Times New Roman" panose="02020603050405020304" pitchFamily="18" charset="0"/>
            </a:endParaRPr>
          </a:p>
          <a:p>
            <a:pPr marL="342900" indent="-342900" algn="just">
              <a:spcAft>
                <a:spcPts val="8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There is an urgent need for an automated, scalable, and accurate disease detection system that can be deployed in real-field conditions without requiring specialist knowledge.</a:t>
            </a:r>
            <a:endParaRPr lang="en-US" sz="1350" dirty="0">
              <a:latin typeface="Times New Roman" panose="02020603050405020304" pitchFamily="18" charset="0"/>
            </a:endParaRPr>
          </a:p>
          <a:p>
            <a:pPr marL="342900" indent="-342900" algn="just">
              <a:spcAft>
                <a:spcPts val="8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Objectives: (1) Build a CNN-based image classification model trained on diverse plant disease datasets. (2) Achieve high accuracy in detecting and classifying multiple plant diseases. (3) Develop a user-friendly interface accessible to farmers. (4) Enable real-time disease detection from leaf images captured by smartphone cameras.</a:t>
            </a:r>
            <a:endParaRPr lang="en-US" sz="135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10</a:t>
            </a:r>
            <a:endParaRPr lang="en-US" sz="900" dirty="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Design of Solution</a:t>
            </a:r>
            <a:endParaRPr lang="en-US" sz="2800" dirty="0">
              <a:latin typeface="Times New Roman" panose="02020603050405020304" pitchFamily="18" charset="0"/>
            </a:endParaRPr>
          </a:p>
        </p:txBody>
      </p:sp>
      <p:sp>
        <p:nvSpPr>
          <p:cNvPr id="7" name="Shape 5"/>
          <p:cNvSpPr/>
          <p:nvPr/>
        </p:nvSpPr>
        <p:spPr>
          <a:xfrm>
            <a:off x="1600200" y="960120"/>
            <a:ext cx="1234440" cy="777240"/>
          </a:xfrm>
          <a:prstGeom prst="rect">
            <a:avLst/>
          </a:prstGeom>
          <a:solidFill>
            <a:srgbClr val="2E4478"/>
          </a:solidFill>
          <a:ln w="12700">
            <a:solidFill>
              <a:srgbClr val="2E4478"/>
            </a:solidFill>
            <a:prstDash val="solid"/>
          </a:ln>
          <a:effectLst>
            <a:outerShdw blurRad="50800" dist="25400" dir="8100000" algn="bl" rotWithShape="0">
              <a:srgbClr val="000000">
                <a:alpha val="20000"/>
              </a:srgbClr>
            </a:outerShdw>
          </a:effectLst>
        </p:spPr>
      </p:sp>
      <p:sp>
        <p:nvSpPr>
          <p:cNvPr id="8" name="Text 6"/>
          <p:cNvSpPr/>
          <p:nvPr/>
        </p:nvSpPr>
        <p:spPr>
          <a:xfrm>
            <a:off x="1600200" y="960120"/>
            <a:ext cx="1234440" cy="777240"/>
          </a:xfrm>
          <a:prstGeom prst="rect">
            <a:avLst/>
          </a:prstGeom>
          <a:noFill/>
          <a:ln/>
        </p:spPr>
        <p:txBody>
          <a:bodyPr wrap="square" lIns="25400" tIns="25400" rIns="25400" bIns="2540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Image</a:t>
            </a:r>
            <a:endParaRPr lang="en-US" sz="1000" dirty="0">
              <a:latin typeface="Times New Roman" panose="02020603050405020304" pitchFamily="18" charset="0"/>
            </a:endParaRPr>
          </a:p>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Acquisition</a:t>
            </a:r>
            <a:endParaRPr lang="en-US" sz="1000" dirty="0">
              <a:latin typeface="Times New Roman" panose="02020603050405020304" pitchFamily="18" charset="0"/>
            </a:endParaRPr>
          </a:p>
        </p:txBody>
      </p:sp>
      <p:sp>
        <p:nvSpPr>
          <p:cNvPr id="9" name="Shape 7"/>
          <p:cNvSpPr/>
          <p:nvPr/>
        </p:nvSpPr>
        <p:spPr>
          <a:xfrm>
            <a:off x="2834640" y="1348740"/>
            <a:ext cx="182880" cy="0"/>
          </a:xfrm>
          <a:prstGeom prst="line">
            <a:avLst/>
          </a:prstGeom>
          <a:noFill/>
          <a:ln w="19050">
            <a:solidFill>
              <a:srgbClr val="2E4478"/>
            </a:solidFill>
            <a:prstDash val="solid"/>
          </a:ln>
        </p:spPr>
      </p:sp>
      <p:sp>
        <p:nvSpPr>
          <p:cNvPr id="10" name="Shape 8"/>
          <p:cNvSpPr/>
          <p:nvPr/>
        </p:nvSpPr>
        <p:spPr>
          <a:xfrm>
            <a:off x="3017520" y="960120"/>
            <a:ext cx="1234440" cy="777240"/>
          </a:xfrm>
          <a:prstGeom prst="rect">
            <a:avLst/>
          </a:prstGeom>
          <a:solidFill>
            <a:srgbClr val="2E4478"/>
          </a:solidFill>
          <a:ln w="12700">
            <a:solidFill>
              <a:srgbClr val="2E4478"/>
            </a:solidFill>
            <a:prstDash val="solid"/>
          </a:ln>
          <a:effectLst>
            <a:outerShdw blurRad="50800" dist="25400" dir="8100000" algn="bl" rotWithShape="0">
              <a:srgbClr val="000000">
                <a:alpha val="20000"/>
              </a:srgbClr>
            </a:outerShdw>
          </a:effectLst>
        </p:spPr>
      </p:sp>
      <p:sp>
        <p:nvSpPr>
          <p:cNvPr id="11" name="Text 9"/>
          <p:cNvSpPr/>
          <p:nvPr/>
        </p:nvSpPr>
        <p:spPr>
          <a:xfrm>
            <a:off x="3017520" y="960120"/>
            <a:ext cx="1234440" cy="777240"/>
          </a:xfrm>
          <a:prstGeom prst="rect">
            <a:avLst/>
          </a:prstGeom>
          <a:noFill/>
          <a:ln/>
        </p:spPr>
        <p:txBody>
          <a:bodyPr wrap="square" lIns="25400" tIns="25400" rIns="25400" bIns="2540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Preprocessing</a:t>
            </a:r>
            <a:endParaRPr lang="en-US" sz="1000" dirty="0">
              <a:latin typeface="Times New Roman" panose="02020603050405020304" pitchFamily="18" charset="0"/>
            </a:endParaRPr>
          </a:p>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&amp; Augmentation</a:t>
            </a:r>
            <a:endParaRPr lang="en-US" sz="1000" dirty="0">
              <a:latin typeface="Times New Roman" panose="02020603050405020304" pitchFamily="18" charset="0"/>
            </a:endParaRPr>
          </a:p>
        </p:txBody>
      </p:sp>
      <p:sp>
        <p:nvSpPr>
          <p:cNvPr id="12" name="Shape 10"/>
          <p:cNvSpPr/>
          <p:nvPr/>
        </p:nvSpPr>
        <p:spPr>
          <a:xfrm flipV="1">
            <a:off x="4187952" y="1348740"/>
            <a:ext cx="292608" cy="1524"/>
          </a:xfrm>
          <a:prstGeom prst="line">
            <a:avLst/>
          </a:prstGeom>
          <a:noFill/>
          <a:ln w="19050">
            <a:solidFill>
              <a:srgbClr val="2E4478"/>
            </a:solidFill>
            <a:prstDash val="solid"/>
          </a:ln>
        </p:spPr>
      </p:sp>
      <p:sp>
        <p:nvSpPr>
          <p:cNvPr id="13" name="Shape 11"/>
          <p:cNvSpPr/>
          <p:nvPr/>
        </p:nvSpPr>
        <p:spPr>
          <a:xfrm>
            <a:off x="4410456" y="961644"/>
            <a:ext cx="1234440" cy="777240"/>
          </a:xfrm>
          <a:prstGeom prst="rect">
            <a:avLst/>
          </a:prstGeom>
          <a:solidFill>
            <a:srgbClr val="2E4478"/>
          </a:solidFill>
          <a:ln w="12700">
            <a:solidFill>
              <a:srgbClr val="2E4478"/>
            </a:solidFill>
            <a:prstDash val="solid"/>
          </a:ln>
          <a:effectLst>
            <a:outerShdw blurRad="50800" dist="25400" dir="8100000" algn="bl" rotWithShape="0">
              <a:srgbClr val="000000">
                <a:alpha val="20000"/>
              </a:srgbClr>
            </a:outerShdw>
          </a:effectLst>
        </p:spPr>
      </p:sp>
      <p:sp>
        <p:nvSpPr>
          <p:cNvPr id="14" name="Text 12"/>
          <p:cNvSpPr/>
          <p:nvPr/>
        </p:nvSpPr>
        <p:spPr>
          <a:xfrm>
            <a:off x="4411980" y="982980"/>
            <a:ext cx="1234440" cy="777240"/>
          </a:xfrm>
          <a:prstGeom prst="rect">
            <a:avLst/>
          </a:prstGeom>
          <a:noFill/>
          <a:ln/>
        </p:spPr>
        <p:txBody>
          <a:bodyPr wrap="square" lIns="25400" tIns="25400" rIns="25400" bIns="2540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CNN Model</a:t>
            </a:r>
            <a:endParaRPr lang="en-US" sz="1000" dirty="0">
              <a:latin typeface="Times New Roman" panose="02020603050405020304" pitchFamily="18" charset="0"/>
            </a:endParaRPr>
          </a:p>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Training</a:t>
            </a:r>
            <a:endParaRPr lang="en-US" sz="1000" dirty="0">
              <a:latin typeface="Times New Roman" panose="02020603050405020304" pitchFamily="18" charset="0"/>
            </a:endParaRPr>
          </a:p>
        </p:txBody>
      </p:sp>
      <p:sp>
        <p:nvSpPr>
          <p:cNvPr id="15" name="Shape 13"/>
          <p:cNvSpPr/>
          <p:nvPr/>
        </p:nvSpPr>
        <p:spPr>
          <a:xfrm>
            <a:off x="5646420" y="1357884"/>
            <a:ext cx="164592" cy="0"/>
          </a:xfrm>
          <a:prstGeom prst="line">
            <a:avLst/>
          </a:prstGeom>
          <a:noFill/>
          <a:ln w="19050">
            <a:solidFill>
              <a:srgbClr val="2E4478"/>
            </a:solidFill>
            <a:prstDash val="solid"/>
          </a:ln>
        </p:spPr>
      </p:sp>
      <p:sp>
        <p:nvSpPr>
          <p:cNvPr id="16" name="Shape 14"/>
          <p:cNvSpPr/>
          <p:nvPr/>
        </p:nvSpPr>
        <p:spPr>
          <a:xfrm>
            <a:off x="5806440" y="960120"/>
            <a:ext cx="1234440" cy="777240"/>
          </a:xfrm>
          <a:prstGeom prst="rect">
            <a:avLst/>
          </a:prstGeom>
          <a:solidFill>
            <a:srgbClr val="2E4478"/>
          </a:solidFill>
          <a:ln w="12700">
            <a:solidFill>
              <a:srgbClr val="2E4478"/>
            </a:solidFill>
            <a:prstDash val="solid"/>
          </a:ln>
          <a:effectLst>
            <a:outerShdw blurRad="50800" dist="25400" dir="8100000" algn="bl" rotWithShape="0">
              <a:srgbClr val="000000">
                <a:alpha val="20000"/>
              </a:srgbClr>
            </a:outerShdw>
          </a:effectLst>
        </p:spPr>
      </p:sp>
      <p:sp>
        <p:nvSpPr>
          <p:cNvPr id="17" name="Text 15"/>
          <p:cNvSpPr/>
          <p:nvPr/>
        </p:nvSpPr>
        <p:spPr>
          <a:xfrm>
            <a:off x="5803392" y="982980"/>
            <a:ext cx="1234440" cy="777240"/>
          </a:xfrm>
          <a:prstGeom prst="rect">
            <a:avLst/>
          </a:prstGeom>
          <a:noFill/>
          <a:ln/>
        </p:spPr>
        <p:txBody>
          <a:bodyPr wrap="square" lIns="25400" tIns="25400" rIns="25400" bIns="2540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Disease</a:t>
            </a:r>
            <a:endParaRPr lang="en-US" sz="1000" dirty="0">
              <a:latin typeface="Times New Roman" panose="02020603050405020304" pitchFamily="18" charset="0"/>
            </a:endParaRPr>
          </a:p>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Classification</a:t>
            </a:r>
            <a:endParaRPr lang="en-US" sz="1000" dirty="0">
              <a:latin typeface="Times New Roman" panose="02020603050405020304" pitchFamily="18" charset="0"/>
            </a:endParaRPr>
          </a:p>
        </p:txBody>
      </p:sp>
      <p:sp>
        <p:nvSpPr>
          <p:cNvPr id="18" name="Shape 16"/>
          <p:cNvSpPr/>
          <p:nvPr/>
        </p:nvSpPr>
        <p:spPr>
          <a:xfrm>
            <a:off x="7562088" y="1348740"/>
            <a:ext cx="164592" cy="0"/>
          </a:xfrm>
          <a:prstGeom prst="line">
            <a:avLst/>
          </a:prstGeom>
          <a:noFill/>
          <a:ln w="19050">
            <a:solidFill>
              <a:srgbClr val="2E4478"/>
            </a:solidFill>
            <a:prstDash val="solid"/>
          </a:ln>
        </p:spPr>
      </p:sp>
      <p:sp>
        <p:nvSpPr>
          <p:cNvPr id="19" name="Shape 17"/>
          <p:cNvSpPr/>
          <p:nvPr/>
        </p:nvSpPr>
        <p:spPr>
          <a:xfrm>
            <a:off x="7202424" y="969264"/>
            <a:ext cx="1234440" cy="777240"/>
          </a:xfrm>
          <a:prstGeom prst="rect">
            <a:avLst/>
          </a:prstGeom>
          <a:solidFill>
            <a:srgbClr val="2E4478"/>
          </a:solidFill>
          <a:ln w="12700">
            <a:solidFill>
              <a:srgbClr val="2E4478"/>
            </a:solidFill>
            <a:prstDash val="solid"/>
          </a:ln>
          <a:effectLst>
            <a:outerShdw blurRad="50800" dist="25400" dir="8100000" algn="bl" rotWithShape="0">
              <a:srgbClr val="000000">
                <a:alpha val="20000"/>
              </a:srgbClr>
            </a:outerShdw>
          </a:effectLst>
        </p:spPr>
      </p:sp>
      <p:sp>
        <p:nvSpPr>
          <p:cNvPr id="20" name="Text 18"/>
          <p:cNvSpPr/>
          <p:nvPr/>
        </p:nvSpPr>
        <p:spPr>
          <a:xfrm>
            <a:off x="7194804" y="960120"/>
            <a:ext cx="1234440" cy="777240"/>
          </a:xfrm>
          <a:prstGeom prst="rect">
            <a:avLst/>
          </a:prstGeom>
          <a:noFill/>
          <a:ln/>
        </p:spPr>
        <p:txBody>
          <a:bodyPr wrap="square" lIns="25400" tIns="25400" rIns="25400" bIns="2540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Result &amp;</a:t>
            </a:r>
            <a:endParaRPr lang="en-US" sz="1000" dirty="0">
              <a:latin typeface="Times New Roman" panose="02020603050405020304" pitchFamily="18" charset="0"/>
            </a:endParaRPr>
          </a:p>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Recommendation</a:t>
            </a:r>
            <a:endParaRPr lang="en-US" sz="1000" dirty="0">
              <a:latin typeface="Times New Roman" panose="02020603050405020304" pitchFamily="18" charset="0"/>
            </a:endParaRPr>
          </a:p>
        </p:txBody>
      </p:sp>
      <p:sp>
        <p:nvSpPr>
          <p:cNvPr id="21" name="Text 19"/>
          <p:cNvSpPr/>
          <p:nvPr/>
        </p:nvSpPr>
        <p:spPr>
          <a:xfrm>
            <a:off x="1508760" y="1875574"/>
            <a:ext cx="7406640" cy="1381976"/>
          </a:xfrm>
          <a:prstGeom prst="rect">
            <a:avLst/>
          </a:prstGeom>
          <a:noFill/>
          <a:ln/>
        </p:spPr>
        <p:txBody>
          <a:bodyPr wrap="square" rtlCol="0" anchor="ctr"/>
          <a:lstStyle/>
          <a:p>
            <a:pPr marL="342900" indent="-342900">
              <a:spcAft>
                <a:spcPts val="5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Data Collection: PlantVillage dataset + custom field images (38 disease classes, 87,000+ images)</a:t>
            </a:r>
            <a:endParaRPr lang="en-US" sz="1300" dirty="0">
              <a:latin typeface="Times New Roman" panose="02020603050405020304" pitchFamily="18" charset="0"/>
            </a:endParaRPr>
          </a:p>
          <a:p>
            <a:pPr marL="342900" indent="-342900">
              <a:spcAft>
                <a:spcPts val="5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Preprocessing: Image resizing (224×224), normalization, augmentation (flip, rotate, zoom, crop)</a:t>
            </a:r>
            <a:endParaRPr lang="en-US" sz="1300" dirty="0">
              <a:latin typeface="Times New Roman" panose="02020603050405020304" pitchFamily="18" charset="0"/>
            </a:endParaRPr>
          </a:p>
          <a:p>
            <a:pPr marL="342900" indent="-342900">
              <a:spcAft>
                <a:spcPts val="5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Model: Transfer learning using ResNet50 / MobileNetV2 fine-tuned on plant disease dataset</a:t>
            </a:r>
            <a:endParaRPr lang="en-US" sz="1300" dirty="0">
              <a:latin typeface="Times New Roman" panose="02020603050405020304" pitchFamily="18" charset="0"/>
            </a:endParaRPr>
          </a:p>
          <a:p>
            <a:pPr marL="342900" indent="-342900">
              <a:spcAft>
                <a:spcPts val="500"/>
              </a:spcAft>
              <a:buSzPct val="100000"/>
              <a:buChar char="•"/>
            </a:pPr>
            <a:r>
              <a:rPr lang="en-US" sz="1300" dirty="0">
                <a:solidFill>
                  <a:srgbClr val="000000"/>
                </a:solidFill>
                <a:latin typeface="Times New Roman" panose="02020603050405020304" pitchFamily="18" charset="0"/>
                <a:ea typeface="Calibri" pitchFamily="34" charset="-122"/>
                <a:cs typeface="Times New Roman" panose="02020603050405020304" pitchFamily="18" charset="0"/>
              </a:rPr>
              <a:t>Output: Predicted disease class + confidence score + treatment recommendation</a:t>
            </a:r>
            <a:endParaRPr lang="en-US" sz="1300" dirty="0">
              <a:latin typeface="Times New Roman" panose="02020603050405020304" pitchFamily="18" charset="0"/>
            </a:endParaRPr>
          </a:p>
        </p:txBody>
      </p:sp>
      <p:sp>
        <p:nvSpPr>
          <p:cNvPr id="22" name="Shape 20"/>
          <p:cNvSpPr/>
          <p:nvPr/>
        </p:nvSpPr>
        <p:spPr>
          <a:xfrm>
            <a:off x="1417320" y="4800600"/>
            <a:ext cx="7726680" cy="342900"/>
          </a:xfrm>
          <a:prstGeom prst="rect">
            <a:avLst/>
          </a:prstGeom>
          <a:solidFill>
            <a:srgbClr val="2E4478"/>
          </a:solidFill>
          <a:ln w="12700">
            <a:solidFill>
              <a:srgbClr val="2E4478"/>
            </a:solidFill>
            <a:prstDash val="solid"/>
          </a:ln>
        </p:spPr>
      </p:sp>
      <p:sp>
        <p:nvSpPr>
          <p:cNvPr id="23" name="Text 21"/>
          <p:cNvSpPr/>
          <p:nvPr/>
        </p:nvSpPr>
        <p:spPr>
          <a:xfrm>
            <a:off x="1417320" y="4800600"/>
            <a:ext cx="772668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Department of Computer Engineering , PCE , Jaipur</a:t>
            </a:r>
            <a:endParaRPr lang="en-US" sz="1000" dirty="0">
              <a:latin typeface="Times New Roman" panose="02020603050405020304" pitchFamily="18" charset="0"/>
            </a:endParaRPr>
          </a:p>
        </p:txBody>
      </p:sp>
      <p:sp>
        <p:nvSpPr>
          <p:cNvPr id="24" name="Shape 13">
            <a:extLst>
              <a:ext uri="{FF2B5EF4-FFF2-40B4-BE49-F238E27FC236}">
                <a16:creationId xmlns:a16="http://schemas.microsoft.com/office/drawing/2014/main" id="{BDFB25DA-6007-3A1D-B1F1-EC2E689E702C}"/>
              </a:ext>
            </a:extLst>
          </p:cNvPr>
          <p:cNvSpPr/>
          <p:nvPr/>
        </p:nvSpPr>
        <p:spPr>
          <a:xfrm>
            <a:off x="7040880" y="1371600"/>
            <a:ext cx="164592" cy="0"/>
          </a:xfrm>
          <a:prstGeom prst="line">
            <a:avLst/>
          </a:prstGeom>
          <a:noFill/>
          <a:ln w="19050">
            <a:solidFill>
              <a:srgbClr val="2E4478"/>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Experimental Setup</a:t>
            </a:r>
            <a:endParaRPr lang="en-US" sz="2800" dirty="0">
              <a:latin typeface="Times New Roman" panose="02020603050405020304" pitchFamily="18" charset="0"/>
            </a:endParaRPr>
          </a:p>
        </p:txBody>
      </p:sp>
      <p:sp>
        <p:nvSpPr>
          <p:cNvPr id="7" name="Text 5"/>
          <p:cNvSpPr/>
          <p:nvPr/>
        </p:nvSpPr>
        <p:spPr>
          <a:xfrm>
            <a:off x="1600200" y="726332"/>
            <a:ext cx="7223760" cy="2250980"/>
          </a:xfrm>
          <a:prstGeom prst="rect">
            <a:avLst/>
          </a:prstGeom>
          <a:noFill/>
          <a:ln/>
        </p:spPr>
        <p:txBody>
          <a:bodyPr wrap="square" rtlCol="0" anchor="ctr"/>
          <a:lstStyle/>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Dataset: PlantVillage dataset with 54,306 images across 38 plant-disease categories, split 80/10/10 for train/val/test</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Hardware: NVIDIA GPU (Google Colab / local GPU with 8GB VRAM), 16GB RAM, Python 3.9</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Framework: TensorFlow 2.x / Keras with OpenCV for image processing</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Model Architecture: MobileNetV2 (lightweight), ResNet50 (accuracy-focused) — pre-trained on ImageNet, fine-tuned on plant dataset</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Training: 30 epochs, Adam optimizer, learning rate 0.0001, batch size 32, categorical cross-entropy loss</a:t>
            </a:r>
            <a:endParaRPr lang="en-US" sz="1350" dirty="0">
              <a:latin typeface="Times New Roman" panose="02020603050405020304" pitchFamily="18" charset="0"/>
            </a:endParaRPr>
          </a:p>
        </p:txBody>
      </p:sp>
      <p:sp>
        <p:nvSpPr>
          <p:cNvPr id="8" name="Shape 6"/>
          <p:cNvSpPr/>
          <p:nvPr/>
        </p:nvSpPr>
        <p:spPr>
          <a:xfrm>
            <a:off x="1417320" y="4800600"/>
            <a:ext cx="7726680" cy="342900"/>
          </a:xfrm>
          <a:prstGeom prst="rect">
            <a:avLst/>
          </a:prstGeom>
          <a:solidFill>
            <a:srgbClr val="2E4478"/>
          </a:solidFill>
          <a:ln w="12700">
            <a:solidFill>
              <a:srgbClr val="2E4478"/>
            </a:solidFill>
            <a:prstDash val="solid"/>
          </a:ln>
        </p:spPr>
      </p:sp>
      <p:sp>
        <p:nvSpPr>
          <p:cNvPr id="9" name="Text 7"/>
          <p:cNvSpPr/>
          <p:nvPr/>
        </p:nvSpPr>
        <p:spPr>
          <a:xfrm>
            <a:off x="1417320" y="4800600"/>
            <a:ext cx="772668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Department of Computer Engineering , PCE , Jaipur</a:t>
            </a:r>
            <a:endParaRPr lang="en-US" sz="1000" dirty="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Variance</a:t>
            </a:r>
            <a:endParaRPr lang="en-US" sz="2800" dirty="0">
              <a:latin typeface="Times New Roman" panose="02020603050405020304" pitchFamily="18" charset="0"/>
            </a:endParaRPr>
          </a:p>
        </p:txBody>
      </p:sp>
      <p:sp>
        <p:nvSpPr>
          <p:cNvPr id="7" name="Text 5"/>
          <p:cNvSpPr/>
          <p:nvPr/>
        </p:nvSpPr>
        <p:spPr>
          <a:xfrm>
            <a:off x="1600200" y="674127"/>
            <a:ext cx="7301257" cy="2659542"/>
          </a:xfrm>
          <a:prstGeom prst="rect">
            <a:avLst/>
          </a:prstGeom>
          <a:noFill/>
          <a:ln/>
        </p:spPr>
        <p:txBody>
          <a:bodyPr wrap="square" rtlCol="0" anchor="ctr"/>
          <a:lstStyle/>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Model Architecture: MobileNetV2 achieved 96.2% val accuracy; ResNet50 achieved 97.8% — ResNet preferred for high-stakes detection</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Dataset Size: Larger datasets consistently improved generalization; custom field images reduced performance due to background noise</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Lighting &amp; Image Quality: Controlled greenhouse images yielded higher accuracy (98.1%) vs open-field images (91.4%)</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Augmentation Strategy: Aggressive augmentation improved field-image accuracy by 4.7% while reducing overfitting significantly</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Preprocessing: Leaf segmentation using GrabCut improved accuracy by ~2.3% by removing background clutter</a:t>
            </a:r>
            <a:endParaRPr lang="en-US" sz="1350" dirty="0">
              <a:latin typeface="Times New Roman" panose="02020603050405020304" pitchFamily="18" charset="0"/>
            </a:endParaRPr>
          </a:p>
        </p:txBody>
      </p:sp>
      <p:sp>
        <p:nvSpPr>
          <p:cNvPr id="8" name="Shape 6"/>
          <p:cNvSpPr/>
          <p:nvPr/>
        </p:nvSpPr>
        <p:spPr>
          <a:xfrm>
            <a:off x="1417320" y="4800600"/>
            <a:ext cx="7726680" cy="342900"/>
          </a:xfrm>
          <a:prstGeom prst="rect">
            <a:avLst/>
          </a:prstGeom>
          <a:solidFill>
            <a:srgbClr val="2E4478"/>
          </a:solidFill>
          <a:ln w="12700">
            <a:solidFill>
              <a:srgbClr val="2E4478"/>
            </a:solidFill>
            <a:prstDash val="solid"/>
          </a:ln>
        </p:spPr>
      </p:sp>
      <p:sp>
        <p:nvSpPr>
          <p:cNvPr id="9" name="Text 7"/>
          <p:cNvSpPr/>
          <p:nvPr/>
        </p:nvSpPr>
        <p:spPr>
          <a:xfrm>
            <a:off x="1417320" y="4800600"/>
            <a:ext cx="772668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Department of Computer Engineering , PCE , Jaipur</a:t>
            </a:r>
            <a:endParaRPr lang="en-US" sz="1000" dirty="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Snapshots</a:t>
            </a:r>
            <a:endParaRPr lang="en-US" sz="2800" dirty="0">
              <a:latin typeface="Times New Roman" panose="02020603050405020304" pitchFamily="18" charset="0"/>
            </a:endParaRPr>
          </a:p>
        </p:txBody>
      </p:sp>
      <p:sp>
        <p:nvSpPr>
          <p:cNvPr id="19" name="Shape 17"/>
          <p:cNvSpPr/>
          <p:nvPr/>
        </p:nvSpPr>
        <p:spPr>
          <a:xfrm>
            <a:off x="1417320" y="4800600"/>
            <a:ext cx="7726680" cy="342900"/>
          </a:xfrm>
          <a:prstGeom prst="rect">
            <a:avLst/>
          </a:prstGeom>
          <a:solidFill>
            <a:srgbClr val="2E4478"/>
          </a:solidFill>
          <a:ln w="12700">
            <a:solidFill>
              <a:srgbClr val="2E4478"/>
            </a:solidFill>
            <a:prstDash val="solid"/>
          </a:ln>
        </p:spPr>
      </p:sp>
      <p:sp>
        <p:nvSpPr>
          <p:cNvPr id="20" name="Text 18"/>
          <p:cNvSpPr/>
          <p:nvPr/>
        </p:nvSpPr>
        <p:spPr>
          <a:xfrm>
            <a:off x="1417320" y="4800600"/>
            <a:ext cx="7726680" cy="34290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Department of Computer Engineering , PCE , Jaipur</a:t>
            </a:r>
            <a:endParaRPr lang="en-US" sz="1000" dirty="0">
              <a:latin typeface="Times New Roman" panose="02020603050405020304" pitchFamily="18" charset="0"/>
            </a:endParaRPr>
          </a:p>
        </p:txBody>
      </p:sp>
      <p:pic>
        <p:nvPicPr>
          <p:cNvPr id="22" name="Picture 21">
            <a:extLst>
              <a:ext uri="{FF2B5EF4-FFF2-40B4-BE49-F238E27FC236}">
                <a16:creationId xmlns:a16="http://schemas.microsoft.com/office/drawing/2014/main" id="{0C13308C-17A6-7B24-6816-C475E2FCD809}"/>
              </a:ext>
            </a:extLst>
          </p:cNvPr>
          <p:cNvPicPr>
            <a:picLocks noChangeAspect="1"/>
          </p:cNvPicPr>
          <p:nvPr/>
        </p:nvPicPr>
        <p:blipFill>
          <a:blip r:embed="rId3"/>
          <a:stretch>
            <a:fillRect/>
          </a:stretch>
        </p:blipFill>
        <p:spPr>
          <a:xfrm>
            <a:off x="4486657" y="1263035"/>
            <a:ext cx="1588006" cy="2617430"/>
          </a:xfrm>
          <a:prstGeom prst="rect">
            <a:avLst/>
          </a:prstGeom>
        </p:spPr>
      </p:pic>
      <p:pic>
        <p:nvPicPr>
          <p:cNvPr id="24" name="Picture 23">
            <a:extLst>
              <a:ext uri="{FF2B5EF4-FFF2-40B4-BE49-F238E27FC236}">
                <a16:creationId xmlns:a16="http://schemas.microsoft.com/office/drawing/2014/main" id="{8B95FBE3-670C-8082-5AD3-63DC852467F4}"/>
              </a:ext>
            </a:extLst>
          </p:cNvPr>
          <p:cNvPicPr>
            <a:picLocks noChangeAspect="1"/>
          </p:cNvPicPr>
          <p:nvPr/>
        </p:nvPicPr>
        <p:blipFill>
          <a:blip r:embed="rId4"/>
          <a:stretch>
            <a:fillRect/>
          </a:stretch>
        </p:blipFill>
        <p:spPr>
          <a:xfrm>
            <a:off x="2047456" y="984899"/>
            <a:ext cx="1936281" cy="1662026"/>
          </a:xfrm>
          <a:prstGeom prst="rect">
            <a:avLst/>
          </a:prstGeom>
        </p:spPr>
      </p:pic>
      <p:pic>
        <p:nvPicPr>
          <p:cNvPr id="26" name="Picture 25">
            <a:extLst>
              <a:ext uri="{FF2B5EF4-FFF2-40B4-BE49-F238E27FC236}">
                <a16:creationId xmlns:a16="http://schemas.microsoft.com/office/drawing/2014/main" id="{107AB9D1-23AB-2469-F572-38D3D084FE11}"/>
              </a:ext>
            </a:extLst>
          </p:cNvPr>
          <p:cNvPicPr>
            <a:picLocks noChangeAspect="1"/>
          </p:cNvPicPr>
          <p:nvPr/>
        </p:nvPicPr>
        <p:blipFill>
          <a:blip r:embed="rId5"/>
          <a:stretch>
            <a:fillRect/>
          </a:stretch>
        </p:blipFill>
        <p:spPr>
          <a:xfrm>
            <a:off x="1886712" y="2920051"/>
            <a:ext cx="2419583" cy="1360464"/>
          </a:xfrm>
          <a:prstGeom prst="rect">
            <a:avLst/>
          </a:prstGeom>
        </p:spPr>
      </p:pic>
      <p:pic>
        <p:nvPicPr>
          <p:cNvPr id="28" name="Picture 27">
            <a:extLst>
              <a:ext uri="{FF2B5EF4-FFF2-40B4-BE49-F238E27FC236}">
                <a16:creationId xmlns:a16="http://schemas.microsoft.com/office/drawing/2014/main" id="{618B4643-7860-7283-266A-5ED231E84323}"/>
              </a:ext>
            </a:extLst>
          </p:cNvPr>
          <p:cNvPicPr>
            <a:picLocks noChangeAspect="1"/>
          </p:cNvPicPr>
          <p:nvPr/>
        </p:nvPicPr>
        <p:blipFill>
          <a:blip r:embed="rId6"/>
          <a:stretch>
            <a:fillRect/>
          </a:stretch>
        </p:blipFill>
        <p:spPr>
          <a:xfrm>
            <a:off x="6669022" y="909724"/>
            <a:ext cx="1904201" cy="1662026"/>
          </a:xfrm>
          <a:prstGeom prst="rect">
            <a:avLst/>
          </a:prstGeom>
        </p:spPr>
      </p:pic>
      <p:pic>
        <p:nvPicPr>
          <p:cNvPr id="30" name="Picture 29">
            <a:extLst>
              <a:ext uri="{FF2B5EF4-FFF2-40B4-BE49-F238E27FC236}">
                <a16:creationId xmlns:a16="http://schemas.microsoft.com/office/drawing/2014/main" id="{A7D14DF5-86C6-0504-9BC8-6171CEFD70E4}"/>
              </a:ext>
            </a:extLst>
          </p:cNvPr>
          <p:cNvPicPr>
            <a:picLocks noChangeAspect="1"/>
          </p:cNvPicPr>
          <p:nvPr/>
        </p:nvPicPr>
        <p:blipFill>
          <a:blip r:embed="rId7"/>
          <a:stretch>
            <a:fillRect/>
          </a:stretch>
        </p:blipFill>
        <p:spPr>
          <a:xfrm>
            <a:off x="6891995" y="2910267"/>
            <a:ext cx="1458253" cy="166202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Results</a:t>
            </a:r>
            <a:endParaRPr lang="en-US" sz="2800" dirty="0">
              <a:latin typeface="Times New Roman" panose="02020603050405020304" pitchFamily="18" charset="0"/>
            </a:endParaRPr>
          </a:p>
        </p:txBody>
      </p:sp>
      <p:sp>
        <p:nvSpPr>
          <p:cNvPr id="7" name="Text 5"/>
          <p:cNvSpPr/>
          <p:nvPr/>
        </p:nvSpPr>
        <p:spPr>
          <a:xfrm>
            <a:off x="1600200" y="667512"/>
            <a:ext cx="7213060" cy="2701630"/>
          </a:xfrm>
          <a:prstGeom prst="rect">
            <a:avLst/>
          </a:prstGeom>
          <a:noFill/>
          <a:ln/>
        </p:spPr>
        <p:txBody>
          <a:bodyPr wrap="square" rtlCol="0" anchor="ctr"/>
          <a:lstStyle/>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Model Accuracy: MobileNetV2 achieved 96.2% and ResNet50 achieved 97.8% classification accuracy on the test set</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Disease Classes: Successfully detected 38 disease categories across 14 crop types including tomato, potato, corn, and apple</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Inference Speed: MobileNetV2 predicted results in &lt;0.3 seconds per image, suitable for real-time mobile deployment</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Confusion Matrix: Near-diagonal distribution confirming minimal misclassification; highest errors in visually similar disease pairs</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User Interface: Web/mobile prototype successfully integrated the model with a confidence score and treatment recommendation output</a:t>
            </a:r>
            <a:endParaRPr lang="en-US" sz="135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15</a:t>
            </a:r>
            <a:endParaRPr lang="en-US" sz="900" dirty="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Conclusion</a:t>
            </a:r>
            <a:endParaRPr lang="en-US" sz="2800" dirty="0">
              <a:latin typeface="Times New Roman" panose="02020603050405020304" pitchFamily="18" charset="0"/>
            </a:endParaRPr>
          </a:p>
        </p:txBody>
      </p:sp>
      <p:sp>
        <p:nvSpPr>
          <p:cNvPr id="7" name="Text 5"/>
          <p:cNvSpPr/>
          <p:nvPr/>
        </p:nvSpPr>
        <p:spPr>
          <a:xfrm>
            <a:off x="1626140" y="667512"/>
            <a:ext cx="7271426" cy="2613303"/>
          </a:xfrm>
          <a:prstGeom prst="rect">
            <a:avLst/>
          </a:prstGeom>
          <a:noFill/>
          <a:ln/>
        </p:spPr>
        <p:txBody>
          <a:bodyPr wrap="square" rtlCol="0" anchor="ctr"/>
          <a:lstStyle/>
          <a:p>
            <a:pPr marL="285750" indent="-285750" algn="just">
              <a:spcAft>
                <a:spcPts val="800"/>
              </a:spcAft>
              <a:buFont typeface="Arial" panose="020B0604020202020204" pitchFamily="34" charset="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This project successfully developed an AI/ML-based Plant Disease Detection System using Convolutional Neural Networks (CNN) with transfer learning. The system achieves high classification accuracy (up to 97.8%) across 38 plant disease categories, demonstrating the strong potential of deep learning in precision agriculture.</a:t>
            </a:r>
            <a:endParaRPr lang="en-US" sz="1350" dirty="0">
              <a:latin typeface="Times New Roman" panose="02020603050405020304" pitchFamily="18" charset="0"/>
            </a:endParaRPr>
          </a:p>
          <a:p>
            <a:pPr marL="285750" indent="-285750" algn="just">
              <a:spcAft>
                <a:spcPts val="800"/>
              </a:spcAft>
              <a:buFont typeface="Arial" panose="020B0604020202020204" pitchFamily="34" charset="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The model's fast inference speed and integration into a user-friendly interface make it a practical tool for farmers, agronomists, and researchers. The system bridges the gap between advanced machine learning techniques and real-world agricultural needs, offering an affordable and scalable alternative to manual inspection.</a:t>
            </a:r>
            <a:endParaRPr lang="en-US" sz="1350" dirty="0">
              <a:latin typeface="Times New Roman" panose="02020603050405020304" pitchFamily="18" charset="0"/>
            </a:endParaRPr>
          </a:p>
          <a:p>
            <a:pPr marL="285750" indent="-285750" algn="just">
              <a:spcAft>
                <a:spcPts val="800"/>
              </a:spcAft>
              <a:buFont typeface="Arial" panose="020B0604020202020204" pitchFamily="34" charset="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With further development including larger and more diverse datasets, edge deployment on mobile devices, and integration of treatment advisory systems, this solution can make a significant impact on global food security and sustainable farming practices.</a:t>
            </a:r>
            <a:endParaRPr lang="en-US" sz="135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16</a:t>
            </a:r>
            <a:endParaRPr lang="en-US" sz="900" dirty="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Future Scope</a:t>
            </a:r>
            <a:endParaRPr lang="en-US" sz="2800" dirty="0">
              <a:latin typeface="Times New Roman" panose="02020603050405020304" pitchFamily="18" charset="0"/>
            </a:endParaRPr>
          </a:p>
        </p:txBody>
      </p:sp>
      <p:sp>
        <p:nvSpPr>
          <p:cNvPr id="7" name="Text 5"/>
          <p:cNvSpPr/>
          <p:nvPr/>
        </p:nvSpPr>
        <p:spPr>
          <a:xfrm>
            <a:off x="1600200" y="667512"/>
            <a:ext cx="7167664" cy="2633602"/>
          </a:xfrm>
          <a:prstGeom prst="rect">
            <a:avLst/>
          </a:prstGeom>
          <a:noFill/>
          <a:ln/>
        </p:spPr>
        <p:txBody>
          <a:bodyPr wrap="square" rtlCol="0" anchor="ctr"/>
          <a:lstStyle/>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Edge Deployment: Optimize the model using TensorFlow Lite or ONNX for real-time inference on low-cost smartphones and embedded devices in rural areas</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Expanded Dataset: Include regional crop varieties and less-documented diseases by collaborating with agricultural universities and field data collection</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Multi-Modal Detection: Integrate hyperspectral and infrared imaging to detect diseases at early stages invisible to the naked eye</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Treatment Advisory System: Add an AI-driven recommendation engine that suggests organic and chemical treatment options based on detected disease</a:t>
            </a:r>
            <a:endParaRPr lang="en-US" sz="1350" dirty="0">
              <a:latin typeface="Times New Roman" panose="02020603050405020304" pitchFamily="18" charset="0"/>
            </a:endParaRPr>
          </a:p>
          <a:p>
            <a:pPr marL="342900" indent="-342900" algn="just">
              <a:spcAft>
                <a:spcPts val="700"/>
              </a:spcAft>
              <a:buSzPct val="100000"/>
              <a:buChar char="•"/>
            </a:pPr>
            <a:r>
              <a:rPr lang="en-US" sz="1350" dirty="0">
                <a:solidFill>
                  <a:srgbClr val="000000"/>
                </a:solidFill>
                <a:latin typeface="Times New Roman" panose="02020603050405020304" pitchFamily="18" charset="0"/>
                <a:ea typeface="Calibri" pitchFamily="34" charset="-122"/>
                <a:cs typeface="Times New Roman" panose="02020603050405020304" pitchFamily="18" charset="0"/>
              </a:rPr>
              <a:t>IoT Integration: Connect with drone and IoT sensor networks for automated field monitoring, enabling proactive large-scale disease surveillance</a:t>
            </a:r>
            <a:endParaRPr lang="en-US" sz="135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17</a:t>
            </a:r>
            <a:endParaRPr lang="en-US" sz="900" dirty="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sp>
        <p:nvSpPr>
          <p:cNvPr id="6" name="Text 4"/>
          <p:cNvSpPr/>
          <p:nvPr/>
        </p:nvSpPr>
        <p:spPr>
          <a:xfrm>
            <a:off x="1508760" y="164592"/>
            <a:ext cx="7498080" cy="502920"/>
          </a:xfrm>
          <a:prstGeom prst="rect">
            <a:avLst/>
          </a:prstGeom>
          <a:noFill/>
          <a:ln/>
        </p:spPr>
        <p:txBody>
          <a:bodyPr wrap="square" lIns="0" tIns="0" rIns="0" bIns="0" rtlCol="0" anchor="ctr"/>
          <a:lstStyle/>
          <a:p>
            <a:pPr marL="0" indent="0" algn="l">
              <a:buNone/>
            </a:pPr>
            <a:r>
              <a:rPr lang="en-US" sz="2800" b="1" dirty="0">
                <a:solidFill>
                  <a:srgbClr val="7B2C2C"/>
                </a:solidFill>
                <a:latin typeface="Times New Roman" panose="02020603050405020304" pitchFamily="18" charset="0"/>
                <a:ea typeface="Calibri" pitchFamily="34" charset="-122"/>
                <a:cs typeface="Times New Roman" panose="02020603050405020304" pitchFamily="18" charset="0"/>
              </a:rPr>
              <a:t>References</a:t>
            </a:r>
            <a:endParaRPr lang="en-US" sz="2800" dirty="0">
              <a:latin typeface="Times New Roman" panose="02020603050405020304" pitchFamily="18" charset="0"/>
            </a:endParaRPr>
          </a:p>
        </p:txBody>
      </p:sp>
      <p:sp>
        <p:nvSpPr>
          <p:cNvPr id="7" name="Text 5"/>
          <p:cNvSpPr/>
          <p:nvPr/>
        </p:nvSpPr>
        <p:spPr>
          <a:xfrm>
            <a:off x="1508760" y="612000"/>
            <a:ext cx="7272074" cy="3291840"/>
          </a:xfrm>
          <a:prstGeom prst="rect">
            <a:avLst/>
          </a:prstGeom>
          <a:noFill/>
          <a:ln/>
        </p:spPr>
        <p:txBody>
          <a:bodyPr wrap="square" rtlCol="0" anchor="ctr"/>
          <a:lstStyle/>
          <a:p>
            <a:pPr marL="0" indent="0" algn="just">
              <a:spcAft>
                <a:spcPts val="400"/>
              </a:spcAft>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1. Mohanty, S. P., Hughes, D. P., &amp; Salathé, M. (2016). Using deep learning for image-based plant disease detection. Frontiers in Plant Science, 7, 1419.</a:t>
            </a:r>
            <a:endParaRPr lang="en-US" sz="1150" dirty="0">
              <a:latin typeface="Times New Roman" panose="02020603050405020304" pitchFamily="18" charset="0"/>
            </a:endParaRPr>
          </a:p>
          <a:p>
            <a:pPr marL="0" indent="0" algn="just">
              <a:spcAft>
                <a:spcPts val="400"/>
              </a:spcAft>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2. Ferentinos, K. P. (2018). Deep learning models for plant disease detection and diagnosis. Computers and Electronics in Agriculture, 145, 311–318.</a:t>
            </a:r>
            <a:endParaRPr lang="en-US" sz="1150" dirty="0">
              <a:latin typeface="Times New Roman" panose="02020603050405020304" pitchFamily="18" charset="0"/>
            </a:endParaRPr>
          </a:p>
          <a:p>
            <a:pPr marL="0" indent="0" algn="just">
              <a:spcAft>
                <a:spcPts val="400"/>
              </a:spcAft>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3. Zhang, X., et al. (2018). Identification of maize leaf diseases using improved deep learning model. IEEE Access, 6, 30370–30377.</a:t>
            </a:r>
            <a:endParaRPr lang="en-US" sz="1150" dirty="0">
              <a:latin typeface="Times New Roman" panose="02020603050405020304" pitchFamily="18" charset="0"/>
            </a:endParaRPr>
          </a:p>
          <a:p>
            <a:pPr marL="0" indent="0" algn="just">
              <a:spcAft>
                <a:spcPts val="400"/>
              </a:spcAft>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4. Barbedo, J. G. A. (2019). Plant disease identification from individual lesions and spots using deep learning. Biosystems Engineering, 180, 96–107.</a:t>
            </a:r>
            <a:endParaRPr lang="en-US" sz="1150" dirty="0">
              <a:latin typeface="Times New Roman" panose="02020603050405020304" pitchFamily="18" charset="0"/>
            </a:endParaRPr>
          </a:p>
          <a:p>
            <a:pPr marL="0" indent="0" algn="just">
              <a:spcAft>
                <a:spcPts val="400"/>
              </a:spcAft>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5. Rangarajan, A. K., et al. (2018). Tomato crop disease classification using pre-trained deep learning algorithm. Procedia Computer Science, 133, 1040–1047.</a:t>
            </a:r>
            <a:endParaRPr lang="en-US" sz="1150" dirty="0">
              <a:latin typeface="Times New Roman" panose="02020603050405020304" pitchFamily="18" charset="0"/>
            </a:endParaRPr>
          </a:p>
          <a:p>
            <a:pPr marL="0" indent="0" algn="just">
              <a:spcAft>
                <a:spcPts val="400"/>
              </a:spcAft>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6. Howard, A. G., et al. (2017). MobileNets: Efficient convolutional neural networks for mobile vision applications. arXiv:1704.04861.</a:t>
            </a:r>
            <a:endParaRPr lang="en-US" sz="1150" dirty="0">
              <a:latin typeface="Times New Roman" panose="02020603050405020304" pitchFamily="18" charset="0"/>
            </a:endParaRPr>
          </a:p>
          <a:p>
            <a:pPr marL="0" indent="0" algn="just">
              <a:spcAft>
                <a:spcPts val="400"/>
              </a:spcAft>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7. He, K., et al. (2016). Deep residual learning for image recognition. CVPR 2016.</a:t>
            </a:r>
            <a:endParaRPr lang="en-US" sz="1150" dirty="0">
              <a:latin typeface="Times New Roman" panose="02020603050405020304" pitchFamily="18" charset="0"/>
            </a:endParaRPr>
          </a:p>
          <a:p>
            <a:pPr marL="0" indent="0" algn="just">
              <a:spcAft>
                <a:spcPts val="400"/>
              </a:spcAft>
              <a:buNone/>
            </a:pPr>
            <a:r>
              <a:rPr lang="en-US" sz="1150" dirty="0">
                <a:solidFill>
                  <a:srgbClr val="000000"/>
                </a:solidFill>
                <a:latin typeface="Times New Roman" panose="02020603050405020304" pitchFamily="18" charset="0"/>
                <a:ea typeface="Calibri" pitchFamily="34" charset="-122"/>
                <a:cs typeface="Times New Roman" panose="02020603050405020304" pitchFamily="18" charset="0"/>
              </a:rPr>
              <a:t>8. Hughes, D. P., &amp; Salathé, M. (2016). An open access repository of images on plant health to enable the development of mobile disease diagnostics. arXiv:1511.08060.</a:t>
            </a:r>
            <a:endParaRPr lang="en-US" sz="1150" dirty="0">
              <a:latin typeface="Times New Roman" panose="02020603050405020304" pitchFamily="18" charset="0"/>
            </a:endParaRPr>
          </a:p>
        </p:txBody>
      </p:sp>
      <p:sp>
        <p:nvSpPr>
          <p:cNvPr id="8" name="Text 6"/>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9" name="Text 7"/>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10" name="Text 8"/>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18</a:t>
            </a:r>
            <a:endParaRPr lang="en-US" sz="900" dirty="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25880" cy="5143500"/>
          </a:xfrm>
          <a:prstGeom prst="rect">
            <a:avLst/>
          </a:prstGeom>
          <a:solidFill>
            <a:srgbClr val="D4B896"/>
          </a:solidFill>
          <a:ln w="12700">
            <a:solidFill>
              <a:srgbClr val="D4B896"/>
            </a:solidFill>
            <a:prstDash val="solid"/>
          </a:ln>
        </p:spPr>
      </p:sp>
      <p:sp>
        <p:nvSpPr>
          <p:cNvPr id="3" name="Shape 1"/>
          <p:cNvSpPr/>
          <p:nvPr/>
        </p:nvSpPr>
        <p:spPr>
          <a:xfrm>
            <a:off x="-457200" y="-274320"/>
            <a:ext cx="1463040" cy="1463040"/>
          </a:xfrm>
          <a:prstGeom prst="ellipse">
            <a:avLst/>
          </a:prstGeom>
          <a:solidFill>
            <a:srgbClr val="C8A87A">
              <a:alpha val="80000"/>
            </a:srgbClr>
          </a:solidFill>
          <a:ln w="12700">
            <a:solidFill>
              <a:srgbClr val="C8A87A"/>
            </a:solidFill>
            <a:prstDash val="solid"/>
          </a:ln>
        </p:spPr>
      </p:sp>
      <p:sp>
        <p:nvSpPr>
          <p:cNvPr id="4" name="Shape 2"/>
          <p:cNvSpPr/>
          <p:nvPr/>
        </p:nvSpPr>
        <p:spPr>
          <a:xfrm>
            <a:off x="-182880" y="320040"/>
            <a:ext cx="1005840" cy="1005840"/>
          </a:xfrm>
          <a:prstGeom prst="ellipse">
            <a:avLst/>
          </a:prstGeom>
          <a:solidFill>
            <a:srgbClr val="B8986A">
              <a:alpha val="70000"/>
            </a:srgbClr>
          </a:solidFill>
          <a:ln w="12700">
            <a:solidFill>
              <a:srgbClr val="B8986A"/>
            </a:solidFill>
            <a:prstDash val="solid"/>
          </a:ln>
        </p:spPr>
      </p:sp>
      <p:sp>
        <p:nvSpPr>
          <p:cNvPr id="5" name="Shape 3"/>
          <p:cNvSpPr/>
          <p:nvPr/>
        </p:nvSpPr>
        <p:spPr>
          <a:xfrm>
            <a:off x="777240" y="1143000"/>
            <a:ext cx="292608" cy="292608"/>
          </a:xfrm>
          <a:prstGeom prst="ellipse">
            <a:avLst/>
          </a:prstGeom>
          <a:solidFill>
            <a:srgbClr val="8BAFC0"/>
          </a:solidFill>
          <a:ln w="12700">
            <a:solidFill>
              <a:srgbClr val="8BAFC0"/>
            </a:solidFill>
            <a:prstDash val="solid"/>
          </a:ln>
        </p:spPr>
      </p:sp>
      <p:pic>
        <p:nvPicPr>
          <p:cNvPr id="6" name="Image 0" descr="preencoded.png"/>
          <p:cNvPicPr>
            <a:picLocks noChangeAspect="1"/>
          </p:cNvPicPr>
          <p:nvPr/>
        </p:nvPicPr>
        <p:blipFill>
          <a:blip r:embed="rId3"/>
          <a:stretch>
            <a:fillRect/>
          </a:stretch>
        </p:blipFill>
        <p:spPr>
          <a:xfrm>
            <a:off x="1463040" y="365760"/>
            <a:ext cx="7498080" cy="4343400"/>
          </a:xfrm>
          <a:prstGeom prst="rect">
            <a:avLst/>
          </a:prstGeom>
        </p:spPr>
      </p:pic>
      <p:sp>
        <p:nvSpPr>
          <p:cNvPr id="7" name="Text 4"/>
          <p:cNvSpPr/>
          <p:nvPr/>
        </p:nvSpPr>
        <p:spPr>
          <a:xfrm>
            <a:off x="1463040" y="4846320"/>
            <a:ext cx="2286000" cy="201168"/>
          </a:xfrm>
          <a:prstGeom prst="rect">
            <a:avLst/>
          </a:prstGeom>
          <a:noFill/>
          <a:ln/>
        </p:spPr>
        <p:txBody>
          <a:bodyPr wrap="square" rtlCol="0" anchor="ctr"/>
          <a:lstStyle/>
          <a:p>
            <a:pPr marL="0" indent="0" algn="l">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08-04-2026</a:t>
            </a:r>
            <a:endParaRPr lang="en-US" sz="900" dirty="0">
              <a:latin typeface="Times New Roman" panose="02020603050405020304" pitchFamily="18" charset="0"/>
            </a:endParaRPr>
          </a:p>
        </p:txBody>
      </p:sp>
      <p:sp>
        <p:nvSpPr>
          <p:cNvPr id="8" name="Text 5"/>
          <p:cNvSpPr/>
          <p:nvPr/>
        </p:nvSpPr>
        <p:spPr>
          <a:xfrm>
            <a:off x="3657600" y="4846320"/>
            <a:ext cx="3657600" cy="201168"/>
          </a:xfrm>
          <a:prstGeom prst="rect">
            <a:avLst/>
          </a:prstGeom>
          <a:noFill/>
          <a:ln/>
        </p:spPr>
        <p:txBody>
          <a:bodyPr wrap="square" rtlCol="0" anchor="ctr"/>
          <a:lstStyle/>
          <a:p>
            <a:pPr marL="0" indent="0" algn="ct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8CS7-50 Project, Jan-Apr 2026</a:t>
            </a:r>
            <a:endParaRPr lang="en-US" sz="900" dirty="0">
              <a:latin typeface="Times New Roman" panose="02020603050405020304" pitchFamily="18" charset="0"/>
            </a:endParaRPr>
          </a:p>
        </p:txBody>
      </p:sp>
      <p:sp>
        <p:nvSpPr>
          <p:cNvPr id="9" name="Text 6"/>
          <p:cNvSpPr/>
          <p:nvPr/>
        </p:nvSpPr>
        <p:spPr>
          <a:xfrm>
            <a:off x="8412480" y="4846320"/>
            <a:ext cx="548640" cy="201168"/>
          </a:xfrm>
          <a:prstGeom prst="rect">
            <a:avLst/>
          </a:prstGeom>
          <a:noFill/>
          <a:ln/>
        </p:spPr>
        <p:txBody>
          <a:bodyPr wrap="square" rtlCol="0" anchor="ctr"/>
          <a:lstStyle/>
          <a:p>
            <a:pPr marL="0" indent="0" algn="r">
              <a:buNone/>
            </a:pPr>
            <a:r>
              <a:rPr lang="en-US" sz="900" dirty="0">
                <a:solidFill>
                  <a:srgbClr val="7F7F7F"/>
                </a:solidFill>
                <a:latin typeface="Times New Roman" panose="02020603050405020304" pitchFamily="18" charset="0"/>
                <a:ea typeface="Calibri" pitchFamily="34" charset="-122"/>
                <a:cs typeface="Times New Roman" panose="02020603050405020304" pitchFamily="18" charset="0"/>
              </a:rPr>
              <a:t>19</a:t>
            </a:r>
            <a:endParaRPr lang="en-US" sz="900" dirty="0">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1733</Words>
  <Application>Microsoft Office PowerPoint</Application>
  <PresentationFormat>On-screen Show (16:9)</PresentationFormat>
  <Paragraphs>187</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Mayur Soni</cp:lastModifiedBy>
  <cp:revision>21</cp:revision>
  <dcterms:created xsi:type="dcterms:W3CDTF">2026-04-08T17:34:25Z</dcterms:created>
  <dcterms:modified xsi:type="dcterms:W3CDTF">2026-04-09T13:25:42Z</dcterms:modified>
</cp:coreProperties>
</file>